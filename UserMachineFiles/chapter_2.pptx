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attanakarn Heavy" charset="1" panose="00000000000000000000"/>
      <p:regular r:id="rId22"/>
    </p:embeddedFont>
    <p:embeddedFont>
      <p:font typeface="Pattanakarn Bold" charset="1" panose="00000000000000000000"/>
      <p:regular r:id="rId23"/>
    </p:embeddedFont>
    <p:embeddedFont>
      <p:font typeface="Open Sans" charset="1" panose="00000000000000000000"/>
      <p:regular r:id="rId24"/>
    </p:embeddedFont>
    <p:embeddedFont>
      <p:font typeface="Open Sans Medium" charset="1" panose="00000000000000000000"/>
      <p:regular r:id="rId25"/>
    </p:embeddedFont>
    <p:embeddedFont>
      <p:font typeface="Open Sans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446863" y="14463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5391" y="4024266"/>
            <a:ext cx="14683909" cy="14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6"/>
              </a:lnSpc>
              <a:spcBef>
                <a:spcPct val="0"/>
              </a:spcBef>
            </a:pPr>
            <a:r>
              <a:rPr lang="en-US" b="true" sz="8576">
                <a:solidFill>
                  <a:srgbClr val="FFFFFF"/>
                </a:solidFill>
                <a:latin typeface="Pattanakarn Heavy"/>
                <a:ea typeface="Pattanakarn Heavy"/>
                <a:cs typeface="Pattanakarn Heavy"/>
                <a:sym typeface="Pattanakarn Heavy"/>
              </a:rPr>
              <a:t>JSX &amp;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5845" y="2533651"/>
            <a:ext cx="7001172" cy="94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  <a:spcBef>
                <a:spcPct val="0"/>
              </a:spcBef>
            </a:pPr>
            <a:r>
              <a:rPr lang="en-US" b="true" sz="557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CHAPTER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2415" y="7955389"/>
            <a:ext cx="902803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Department of Computer A</a:t>
            </a: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pplications, MACE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87942" y="87231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08315" y="6377414"/>
            <a:ext cx="90280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Exploring how JSX enhances coding and React's architectural </a:t>
            </a: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patterns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104489" y="6211379"/>
            <a:ext cx="1366906" cy="190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59"/>
              </a:lnSpc>
              <a:spcBef>
                <a:spcPct val="0"/>
              </a:spcBef>
            </a:pPr>
            <a:r>
              <a:rPr lang="en-US" b="true" sz="11328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3" id="3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1624" y="914400"/>
            <a:ext cx="669763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WHAT IS JSX?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3889" y="4205963"/>
            <a:ext cx="16406580" cy="463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9"/>
              </a:lnSpc>
            </a:pPr>
            <a:r>
              <a:rPr lang="en-US" sz="377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special syntax in React that lets you write UI structure directly inside JavaScript.</a:t>
            </a:r>
          </a:p>
          <a:p>
            <a:pPr algn="just">
              <a:lnSpc>
                <a:spcPts val="5279"/>
              </a:lnSpc>
            </a:pPr>
          </a:p>
          <a:p>
            <a:pPr algn="just">
              <a:lnSpc>
                <a:spcPts val="5279"/>
              </a:lnSpc>
            </a:pPr>
            <a:r>
              <a:rPr lang="en-US" sz="377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JSX = JavaScript XML</a:t>
            </a:r>
          </a:p>
          <a:p>
            <a:pPr algn="just">
              <a:lnSpc>
                <a:spcPts val="5279"/>
              </a:lnSpc>
            </a:pPr>
          </a:p>
          <a:p>
            <a:pPr algn="just">
              <a:lnSpc>
                <a:spcPts val="5279"/>
              </a:lnSpc>
              <a:spcBef>
                <a:spcPct val="0"/>
              </a:spcBef>
            </a:pPr>
            <a:r>
              <a:rPr lang="en-US" b="true" sz="377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 combines logic + UI in one place.</a:t>
            </a:r>
          </a:p>
          <a:p>
            <a:pPr algn="just">
              <a:lnSpc>
                <a:spcPts val="5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77526"/>
            <a:ext cx="88043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SIMPLE ANALOGY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0215" y="4666297"/>
            <a:ext cx="414162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Look of the app (Structure)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260215" y="3529373"/>
            <a:ext cx="4141621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HTML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666297"/>
            <a:ext cx="414162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Brain of the app (Logic)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29373"/>
            <a:ext cx="4141621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JavaScript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2491" y="4540344"/>
            <a:ext cx="414162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Combines both in one place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32491" y="3529373"/>
            <a:ext cx="4141621" cy="43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JSX 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6217228" y="3775991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2142377" y="3923571"/>
            <a:ext cx="0" cy="1542604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4717131" y="10287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6668675"/>
            <a:ext cx="779343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</a:t>
            </a: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Cleaner and more understandable code.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545178" y="-3862847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5" y="0"/>
                </a:lnTo>
                <a:lnTo>
                  <a:pt x="7394275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3360826" y="7499690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83942" y="6185568"/>
            <a:ext cx="7875358" cy="3072732"/>
            <a:chOff x="0" y="0"/>
            <a:chExt cx="1220099" cy="4760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0099" cy="476047"/>
            </a:xfrm>
            <a:custGeom>
              <a:avLst/>
              <a:gdLst/>
              <a:ahLst/>
              <a:cxnLst/>
              <a:rect r="r" b="b" t="t" l="l"/>
              <a:pathLst>
                <a:path h="476047" w="1220099">
                  <a:moveTo>
                    <a:pt x="29492" y="0"/>
                  </a:moveTo>
                  <a:lnTo>
                    <a:pt x="1190607" y="0"/>
                  </a:lnTo>
                  <a:cubicBezTo>
                    <a:pt x="1206895" y="0"/>
                    <a:pt x="1220099" y="13204"/>
                    <a:pt x="1220099" y="29492"/>
                  </a:cubicBezTo>
                  <a:lnTo>
                    <a:pt x="1220099" y="446555"/>
                  </a:lnTo>
                  <a:cubicBezTo>
                    <a:pt x="1220099" y="462843"/>
                    <a:pt x="1206895" y="476047"/>
                    <a:pt x="1190607" y="476047"/>
                  </a:cubicBezTo>
                  <a:lnTo>
                    <a:pt x="29492" y="476047"/>
                  </a:lnTo>
                  <a:cubicBezTo>
                    <a:pt x="13204" y="476047"/>
                    <a:pt x="0" y="462843"/>
                    <a:pt x="0" y="446555"/>
                  </a:cubicBezTo>
                  <a:lnTo>
                    <a:pt x="0" y="29492"/>
                  </a:lnTo>
                  <a:cubicBezTo>
                    <a:pt x="0" y="13204"/>
                    <a:pt x="13204" y="0"/>
                    <a:pt x="2949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5432" r="0" b="-35432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261142" y="7899361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261142" y="6062792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261142" y="4226224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93192" y="888972"/>
            <a:ext cx="8350808" cy="74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WHY JSX IS IMPORTANT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1142" y="3291524"/>
            <a:ext cx="59822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Code looks similar to HTML layout.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1142" y="2636650"/>
            <a:ext cx="5982250" cy="53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  <a:spcBef>
                <a:spcPct val="0"/>
              </a:spcBef>
            </a:pPr>
            <a:r>
              <a:rPr lang="en-US" b="true" sz="3120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👤 Improves Readability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1142" y="5137617"/>
            <a:ext cx="598225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Less code to write.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61142" y="4473219"/>
            <a:ext cx="5982250" cy="53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  <a:spcBef>
                <a:spcPct val="0"/>
              </a:spcBef>
            </a:pPr>
            <a:r>
              <a:rPr lang="en-US" b="true" sz="3120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🔄 Faster Development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1142" y="6974186"/>
            <a:ext cx="598225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Errors are easier to detect.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61142" y="6309787"/>
            <a:ext cx="5982250" cy="53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  <a:spcBef>
                <a:spcPct val="0"/>
              </a:spcBef>
            </a:pPr>
            <a:r>
              <a:rPr lang="en-US" b="true" sz="3120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🛠 Easy Debugging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1142" y="8810755"/>
            <a:ext cx="598225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Cleaner structure improves project scalability.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61142" y="8146356"/>
            <a:ext cx="5982250" cy="53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  <a:spcBef>
                <a:spcPct val="0"/>
              </a:spcBef>
            </a:pPr>
            <a:r>
              <a:rPr lang="en-US" b="true" sz="3120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📈 Better Maintainability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201650" y="105616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927986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JSX BASIC EXAMPLE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39113"/>
            <a:ext cx="3986127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Without JSX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242504" y="4281852"/>
            <a:ext cx="5284563" cy="4472408"/>
            <a:chOff x="0" y="0"/>
            <a:chExt cx="7046083" cy="596321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46083" cy="5963210"/>
              <a:chOff x="0" y="0"/>
              <a:chExt cx="986245" cy="83467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86245" cy="834674"/>
              </a:xfrm>
              <a:custGeom>
                <a:avLst/>
                <a:gdLst/>
                <a:ahLst/>
                <a:cxnLst/>
                <a:rect r="r" b="b" t="t" l="l"/>
                <a:pathLst>
                  <a:path h="834674" w="986245">
                    <a:moveTo>
                      <a:pt x="30993" y="0"/>
                    </a:moveTo>
                    <a:lnTo>
                      <a:pt x="955252" y="0"/>
                    </a:lnTo>
                    <a:cubicBezTo>
                      <a:pt x="972369" y="0"/>
                      <a:pt x="986245" y="13876"/>
                      <a:pt x="986245" y="30993"/>
                    </a:cubicBezTo>
                    <a:lnTo>
                      <a:pt x="986245" y="803681"/>
                    </a:lnTo>
                    <a:cubicBezTo>
                      <a:pt x="986245" y="811901"/>
                      <a:pt x="982980" y="819784"/>
                      <a:pt x="977167" y="825597"/>
                    </a:cubicBezTo>
                    <a:cubicBezTo>
                      <a:pt x="971355" y="831409"/>
                      <a:pt x="963472" y="834674"/>
                      <a:pt x="955252" y="834674"/>
                    </a:cubicBezTo>
                    <a:lnTo>
                      <a:pt x="30993" y="834674"/>
                    </a:lnTo>
                    <a:cubicBezTo>
                      <a:pt x="22773" y="834674"/>
                      <a:pt x="14890" y="831409"/>
                      <a:pt x="9078" y="825597"/>
                    </a:cubicBezTo>
                    <a:cubicBezTo>
                      <a:pt x="3265" y="819784"/>
                      <a:pt x="0" y="811901"/>
                      <a:pt x="0" y="803681"/>
                    </a:cubicBezTo>
                    <a:lnTo>
                      <a:pt x="0" y="30993"/>
                    </a:lnTo>
                    <a:cubicBezTo>
                      <a:pt x="0" y="22773"/>
                      <a:pt x="3265" y="14890"/>
                      <a:pt x="9078" y="9078"/>
                    </a:cubicBezTo>
                    <a:cubicBezTo>
                      <a:pt x="14890" y="3265"/>
                      <a:pt x="22773" y="0"/>
                      <a:pt x="30993" y="0"/>
                    </a:cubicBezTo>
                    <a:close/>
                  </a:path>
                </a:pathLst>
              </a:custGeom>
              <a:solidFill>
                <a:srgbClr val="276A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986245" cy="891824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765123" y="791779"/>
              <a:ext cx="6280961" cy="3220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9"/>
                </a:lnSpc>
              </a:pPr>
            </a:p>
            <a:p>
              <a:pPr algn="l">
                <a:lnSpc>
                  <a:spcPts val="2469"/>
                </a:lnSpc>
              </a:pPr>
            </a:p>
            <a:p>
              <a:pPr algn="l">
                <a:lnSpc>
                  <a:spcPts val="2469"/>
                </a:lnSpc>
              </a:pP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const </a:t>
              </a: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element = React.createElement(</a:t>
              </a:r>
            </a:p>
            <a:p>
              <a:pPr algn="l">
                <a:lnSpc>
                  <a:spcPts val="2469"/>
                </a:lnSpc>
              </a:pP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"h1",</a:t>
              </a:r>
            </a:p>
            <a:p>
              <a:pPr algn="l">
                <a:lnSpc>
                  <a:spcPts val="2469"/>
                </a:lnSpc>
              </a:pP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null,</a:t>
              </a:r>
            </a:p>
            <a:p>
              <a:pPr algn="l">
                <a:lnSpc>
                  <a:spcPts val="2469"/>
                </a:lnSpc>
              </a:pP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"Hello World"</a:t>
              </a:r>
            </a:p>
            <a:p>
              <a:pPr algn="l">
                <a:lnSpc>
                  <a:spcPts val="2469"/>
                </a:lnSpc>
              </a:pP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);</a:t>
              </a:r>
            </a:p>
            <a:p>
              <a:pPr algn="l">
                <a:lnSpc>
                  <a:spcPts val="246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451202" y="2816605"/>
            <a:ext cx="3986127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 JSX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308566" y="4281852"/>
            <a:ext cx="5284563" cy="4134396"/>
            <a:chOff x="0" y="0"/>
            <a:chExt cx="7046083" cy="551252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046083" cy="5512528"/>
              <a:chOff x="0" y="0"/>
              <a:chExt cx="986245" cy="77159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86245" cy="771592"/>
              </a:xfrm>
              <a:custGeom>
                <a:avLst/>
                <a:gdLst/>
                <a:ahLst/>
                <a:cxnLst/>
                <a:rect r="r" b="b" t="t" l="l"/>
                <a:pathLst>
                  <a:path h="771592" w="986245">
                    <a:moveTo>
                      <a:pt x="30993" y="0"/>
                    </a:moveTo>
                    <a:lnTo>
                      <a:pt x="955252" y="0"/>
                    </a:lnTo>
                    <a:cubicBezTo>
                      <a:pt x="972369" y="0"/>
                      <a:pt x="986245" y="13876"/>
                      <a:pt x="986245" y="30993"/>
                    </a:cubicBezTo>
                    <a:lnTo>
                      <a:pt x="986245" y="740599"/>
                    </a:lnTo>
                    <a:cubicBezTo>
                      <a:pt x="986245" y="748819"/>
                      <a:pt x="982980" y="756702"/>
                      <a:pt x="977167" y="762514"/>
                    </a:cubicBezTo>
                    <a:cubicBezTo>
                      <a:pt x="971355" y="768327"/>
                      <a:pt x="963472" y="771592"/>
                      <a:pt x="955252" y="771592"/>
                    </a:cubicBezTo>
                    <a:lnTo>
                      <a:pt x="30993" y="771592"/>
                    </a:lnTo>
                    <a:cubicBezTo>
                      <a:pt x="13876" y="771592"/>
                      <a:pt x="0" y="757716"/>
                      <a:pt x="0" y="740599"/>
                    </a:cubicBezTo>
                    <a:lnTo>
                      <a:pt x="0" y="30993"/>
                    </a:lnTo>
                    <a:cubicBezTo>
                      <a:pt x="0" y="22773"/>
                      <a:pt x="3265" y="14890"/>
                      <a:pt x="9078" y="9078"/>
                    </a:cubicBezTo>
                    <a:cubicBezTo>
                      <a:pt x="14890" y="3265"/>
                      <a:pt x="22773" y="0"/>
                      <a:pt x="30993" y="0"/>
                    </a:cubicBezTo>
                    <a:close/>
                  </a:path>
                </a:pathLst>
              </a:custGeom>
              <a:solidFill>
                <a:srgbClr val="276A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986245" cy="828742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18241" y="950899"/>
              <a:ext cx="4083755" cy="781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9"/>
                </a:lnSpc>
              </a:pP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const </a:t>
              </a:r>
              <a:r>
                <a:rPr lang="en-US" sz="1763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element = &lt;h1&gt;Hello World&lt;/h1&gt;;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739119" y="7669066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25778"/>
            <a:ext cx="592696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JSX RULES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998798"/>
            <a:ext cx="59269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📌 JSX must return one parent element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117" y="4346169"/>
            <a:ext cx="5926966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❌ Wrong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return (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&lt;h1&gt;Hello&lt;/h1&gt;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&lt;p&gt;World&lt;/p&gt;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);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97603" y="4140548"/>
            <a:ext cx="5926966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✅ Correct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return (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&lt;div&gt;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&lt;h1&gt;Hello&lt;/h1&gt;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&lt;p&gt;World&lt;/p&gt;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&lt;/div&gt;</a:t>
            </a: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);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736022" y="85952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10831584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CLASS VS CLASSNAME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160695"/>
            <a:ext cx="642953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 uses: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class="title"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45515" y="4160695"/>
            <a:ext cx="6429537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JSX uses: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className="title"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732031"/>
            <a:ext cx="642953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👉 Because class is a reserved keyword in JavaScript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584189" y="1185517"/>
            <a:ext cx="1356399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EMBEDDING JAVASCRIPT IN JSX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5892" y="4407756"/>
            <a:ext cx="10651351" cy="427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{ } to insert JavaScript expressions.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 name = "Tony";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 App() {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return &lt;h1&gt;Hello {name}&lt;/h1&gt;;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➡️ Output → Hello Tony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00058" y="1049958"/>
            <a:ext cx="931547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EXPRESSIONS IN JSX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0058" y="3128406"/>
            <a:ext cx="4657740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You can run calculations inside JSX: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 App() {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return &lt;h2&gt;{5 + 5}&lt;/h2&gt;;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86611" y="5560642"/>
            <a:ext cx="3037843" cy="346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8"/>
              </a:lnSpc>
            </a:pPr>
            <a:r>
              <a:rPr lang="en-US" sz="33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✔ Works with:</a:t>
            </a:r>
          </a:p>
          <a:p>
            <a:pPr algn="just" marL="715336" indent="-357668" lvl="1">
              <a:lnSpc>
                <a:spcPts val="4638"/>
              </a:lnSpc>
              <a:buFont typeface="Arial"/>
              <a:buChar char="•"/>
            </a:pPr>
            <a:r>
              <a:rPr lang="en-US" b="true" sz="331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Variable</a:t>
            </a:r>
          </a:p>
          <a:p>
            <a:pPr algn="just" marL="715336" indent="-357668" lvl="1">
              <a:lnSpc>
                <a:spcPts val="4638"/>
              </a:lnSpc>
              <a:buFont typeface="Arial"/>
              <a:buChar char="•"/>
            </a:pPr>
            <a:r>
              <a:rPr lang="en-US" b="true" sz="331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Math</a:t>
            </a:r>
          </a:p>
          <a:p>
            <a:pPr algn="just" marL="715336" indent="-357668" lvl="1">
              <a:lnSpc>
                <a:spcPts val="4638"/>
              </a:lnSpc>
              <a:buFont typeface="Arial"/>
              <a:buChar char="•"/>
            </a:pPr>
            <a:r>
              <a:rPr lang="en-US" b="true" sz="331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Functions</a:t>
            </a:r>
          </a:p>
          <a:p>
            <a:pPr algn="just" marL="715336" indent="-357668" lvl="1">
              <a:lnSpc>
                <a:spcPts val="4638"/>
              </a:lnSpc>
              <a:buFont typeface="Arial"/>
              <a:buChar char="•"/>
            </a:pPr>
            <a:r>
              <a:rPr lang="en-US" b="true" sz="331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Conditions</a:t>
            </a:r>
          </a:p>
          <a:p>
            <a:pPr algn="just">
              <a:lnSpc>
                <a:spcPts val="463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00058" y="1049958"/>
            <a:ext cx="1091463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CONDITIONAL RENDERING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0058" y="3128406"/>
            <a:ext cx="465774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JSX supports conditions.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59444" y="4052137"/>
            <a:ext cx="9148065" cy="44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 isLoggedIn = true;</a:t>
            </a:r>
          </a:p>
          <a:p>
            <a:pPr algn="just">
              <a:lnSpc>
                <a:spcPts val="3938"/>
              </a:lnSpc>
            </a:pP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</a:t>
            </a: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unction App() {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retur</a:t>
            </a: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 (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&lt;h1&gt;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{isLoggedIn ? "Welcome User" : "Please Login"}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&lt;/h1&gt;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);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00058" y="1049958"/>
            <a:ext cx="1091463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REACT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5667" y="3128406"/>
            <a:ext cx="6901336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 follows a Component-Based Architecture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📦 App = Collection of reusable components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 Structure: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561902" y="3715146"/>
            <a:ext cx="9148065" cy="344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38"/>
              </a:lnSpc>
            </a:pPr>
          </a:p>
          <a:p>
            <a:pPr algn="just">
              <a:lnSpc>
                <a:spcPts val="3938"/>
              </a:lnSpc>
            </a:pP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├── Navbar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├── Sidebar</a:t>
            </a:r>
          </a:p>
          <a:p>
            <a:pPr algn="just">
              <a:lnSpc>
                <a:spcPts val="3938"/>
              </a:lnSpc>
            </a:pPr>
            <a:r>
              <a:rPr lang="en-US" sz="28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└── Dashboard</a:t>
            </a:r>
          </a:p>
          <a:p>
            <a:pPr algn="just">
              <a:lnSpc>
                <a:spcPts val="393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95667" y="7774492"/>
            <a:ext cx="690133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Each part is independent + reusable.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00058" y="1049958"/>
            <a:ext cx="931547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ONE-WAY DATA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0058" y="3128406"/>
            <a:ext cx="465774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 uses Unidirectional Data Flow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39077" y="4501911"/>
            <a:ext cx="9076461" cy="346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3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➡️ Data moves Parent → Child only</a:t>
            </a:r>
          </a:p>
          <a:p>
            <a:pPr algn="l">
              <a:lnSpc>
                <a:spcPts val="4638"/>
              </a:lnSpc>
            </a:pPr>
          </a:p>
          <a:p>
            <a:pPr algn="l">
              <a:lnSpc>
                <a:spcPts val="4638"/>
              </a:lnSpc>
            </a:pPr>
            <a:r>
              <a:rPr lang="en-US" sz="33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✔ Predictable behavior</a:t>
            </a:r>
          </a:p>
          <a:p>
            <a:pPr algn="l">
              <a:lnSpc>
                <a:spcPts val="4638"/>
              </a:lnSpc>
            </a:pPr>
            <a:r>
              <a:rPr lang="en-US" sz="33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✔ Easy deb</a:t>
            </a:r>
            <a:r>
              <a:rPr lang="en-US" sz="33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ugging</a:t>
            </a:r>
          </a:p>
          <a:p>
            <a:pPr algn="l">
              <a:lnSpc>
                <a:spcPts val="4638"/>
              </a:lnSpc>
            </a:pPr>
            <a:r>
              <a:rPr lang="en-US" sz="33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✔ Better c</a:t>
            </a:r>
            <a:r>
              <a:rPr lang="en-US" sz="331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ontrol</a:t>
            </a:r>
          </a:p>
          <a:p>
            <a:pPr algn="l">
              <a:lnSpc>
                <a:spcPts val="4638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8" id="8"/>
          <p:cNvSpPr/>
          <p:nvPr/>
        </p:nvSpPr>
        <p:spPr>
          <a:xfrm>
            <a:off x="1750230" y="5852367"/>
            <a:ext cx="7202988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750230" y="3753225"/>
            <a:ext cx="1228279" cy="1228279"/>
            <a:chOff x="0" y="0"/>
            <a:chExt cx="323497" cy="3234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50230" y="6295279"/>
            <a:ext cx="1228279" cy="1228279"/>
            <a:chOff x="0" y="0"/>
            <a:chExt cx="323497" cy="3234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186448" y="1164258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049958"/>
            <a:ext cx="1102187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ONE-WAY DATA EXAMPLE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37995" y="3724650"/>
            <a:ext cx="5506271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function Parent() {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return &lt;Child message="Hello Child" /&gt;;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37995" y="3660477"/>
            <a:ext cx="5506271" cy="132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true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Parent Component</a:t>
            </a:r>
          </a:p>
          <a:p>
            <a:pPr algn="l">
              <a:lnSpc>
                <a:spcPts val="3501"/>
              </a:lnSpc>
            </a:pPr>
          </a:p>
          <a:p>
            <a:pPr algn="l">
              <a:lnSpc>
                <a:spcPts val="3501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446947" y="6880844"/>
            <a:ext cx="5506271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function Child(props) {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return &lt;h1&gt;{props.message}&lt;/h1&gt;;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46947" y="6238129"/>
            <a:ext cx="5506271" cy="132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b="true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Child Component</a:t>
            </a:r>
          </a:p>
          <a:p>
            <a:pPr algn="l">
              <a:lnSpc>
                <a:spcPts val="3501"/>
              </a:lnSpc>
            </a:pPr>
          </a:p>
          <a:p>
            <a:pPr algn="l">
              <a:lnSpc>
                <a:spcPts val="3501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958128" y="4122907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58128" y="6664961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0230" y="8473424"/>
            <a:ext cx="593589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📌 Child cannot change parent data directly.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545763" y="1069008"/>
            <a:ext cx="16022745" cy="87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1"/>
              </a:lnSpc>
              <a:spcBef>
                <a:spcPct val="0"/>
              </a:spcBef>
            </a:pPr>
            <a:r>
              <a:rPr lang="en-US" b="true" sz="51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WHY REACT ARCHITECTURE IS POWERFUL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767" y="3600136"/>
            <a:ext cx="14098726" cy="479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04256" indent="-502128" lvl="1">
              <a:lnSpc>
                <a:spcPts val="7674"/>
              </a:lnSpc>
              <a:buFont typeface="Arial"/>
              <a:buChar char="•"/>
            </a:pPr>
            <a:r>
              <a:rPr lang="en-US" sz="46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Keep components small and focused</a:t>
            </a:r>
          </a:p>
          <a:p>
            <a:pPr algn="just" marL="1004256" indent="-502128" lvl="1">
              <a:lnSpc>
                <a:spcPts val="7674"/>
              </a:lnSpc>
              <a:buFont typeface="Arial"/>
              <a:buChar char="•"/>
            </a:pPr>
            <a:r>
              <a:rPr lang="en-US" sz="46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Pass data via props only</a:t>
            </a:r>
          </a:p>
          <a:p>
            <a:pPr algn="just" marL="1004256" indent="-502128" lvl="1">
              <a:lnSpc>
                <a:spcPts val="7674"/>
              </a:lnSpc>
              <a:buFont typeface="Arial"/>
              <a:buChar char="•"/>
            </a:pPr>
            <a:r>
              <a:rPr lang="en-US" sz="46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Avoid deeply nested components</a:t>
            </a:r>
          </a:p>
          <a:p>
            <a:pPr algn="just" marL="1004256" indent="-502128" lvl="1">
              <a:lnSpc>
                <a:spcPts val="7674"/>
              </a:lnSpc>
              <a:buFont typeface="Arial"/>
              <a:buChar char="•"/>
            </a:pPr>
            <a:r>
              <a:rPr lang="en-US" sz="46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Use clear naming conventions</a:t>
            </a:r>
          </a:p>
          <a:p>
            <a:pPr algn="just" marL="1004256" indent="-502128" lvl="1">
              <a:lnSpc>
                <a:spcPts val="7674"/>
              </a:lnSpc>
              <a:buFont typeface="Arial"/>
              <a:buChar char="•"/>
            </a:pPr>
            <a:r>
              <a:rPr lang="en-US" sz="46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✅ Keep logic and UI structured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65493" y="538715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-194146" y="875427"/>
            <a:ext cx="16452369" cy="111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1"/>
              </a:lnSpc>
              <a:spcBef>
                <a:spcPct val="0"/>
              </a:spcBef>
            </a:pPr>
            <a:r>
              <a:rPr lang="en-US" b="true" sz="65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BEST PRACTICES &amp;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767" y="3619186"/>
            <a:ext cx="16584067" cy="53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1287" indent="-590643" lvl="1">
              <a:lnSpc>
                <a:spcPts val="8535"/>
              </a:lnSpc>
              <a:buFont typeface="Arial"/>
              <a:buChar char="•"/>
            </a:pPr>
            <a:r>
              <a:rPr lang="en-US" sz="54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🚀 Scalable applications</a:t>
            </a:r>
          </a:p>
          <a:p>
            <a:pPr algn="l" marL="1181287" indent="-590643" lvl="1">
              <a:lnSpc>
                <a:spcPts val="8535"/>
              </a:lnSpc>
              <a:buFont typeface="Arial"/>
              <a:buChar char="•"/>
            </a:pPr>
            <a:r>
              <a:rPr lang="en-US" sz="54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🧩 Reusable components</a:t>
            </a:r>
          </a:p>
          <a:p>
            <a:pPr algn="l" marL="1181287" indent="-590643" lvl="1">
              <a:lnSpc>
                <a:spcPts val="8535"/>
              </a:lnSpc>
              <a:buFont typeface="Arial"/>
              <a:buChar char="•"/>
            </a:pPr>
            <a:r>
              <a:rPr lang="en-US" sz="54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🔐 Better security</a:t>
            </a:r>
          </a:p>
          <a:p>
            <a:pPr algn="l" marL="1181287" indent="-590643" lvl="1">
              <a:lnSpc>
                <a:spcPts val="8535"/>
              </a:lnSpc>
              <a:buFont typeface="Arial"/>
              <a:buChar char="•"/>
            </a:pPr>
            <a:r>
              <a:rPr lang="en-US" sz="54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🛠 Easier maintenance</a:t>
            </a:r>
          </a:p>
          <a:p>
            <a:pPr algn="l" marL="1181287" indent="-590643" lvl="1">
              <a:lnSpc>
                <a:spcPts val="8535"/>
              </a:lnSpc>
              <a:buFont typeface="Arial"/>
              <a:buChar char="•"/>
            </a:pPr>
            <a:r>
              <a:rPr lang="en-US" sz="54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📈 Clean project structure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65493" y="538715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72506" y="4202278"/>
            <a:ext cx="8742989" cy="111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1"/>
              </a:lnSpc>
              <a:spcBef>
                <a:spcPct val="0"/>
              </a:spcBef>
            </a:pPr>
            <a:r>
              <a:rPr lang="en-US" b="true" sz="65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DAHCczX1VCE</dc:identifier>
  <dcterms:modified xsi:type="dcterms:W3CDTF">2011-08-01T06:04:30Z</dcterms:modified>
  <cp:revision>1</cp:revision>
  <dc:title>chapter 2</dc:title>
</cp:coreProperties>
</file>